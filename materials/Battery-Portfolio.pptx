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1" r:id="rId1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658368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>
                <a:solidFill>
                  <a:srgbClr val="00979D"/>
                </a:solidFill>
                <a:latin typeface="Aptos"/>
              </a:rPr>
              <a:t>AI × Formula EV 배터리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5257800" cy="16459"/>
          </a:xfrm>
          <a:prstGeom prst="rect">
            <a:avLst/>
          </a:prstGeom>
          <a:solidFill>
            <a:srgbClr val="009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5440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61819"/>
                </a:solidFill>
                <a:latin typeface="Aptos"/>
              </a:rPr>
              <a:t>AI와 함께 설계한
Formula EV 배터리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395728"/>
            <a:ext cx="5440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50" b="1">
                <a:solidFill>
                  <a:srgbClr val="161819"/>
                </a:solidFill>
                <a:latin typeface="Aptos"/>
              </a:rPr>
              <a:t>2.1 V 문제 배터리에서
KSAE 배터리 검차 통과까지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273552"/>
            <a:ext cx="5257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0" b="0">
                <a:solidFill>
                  <a:srgbClr val="656C71"/>
                </a:solidFill>
                <a:latin typeface="Aptos"/>
              </a:rPr>
              <a:t>실제 Formula EV 배터리의 문제 발견부터 재설계 · 제작 · 고장진단 · 공식 검차까지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4160520"/>
            <a:ext cx="5257800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40740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BF3027"/>
                </a:solidFill>
                <a:latin typeface="Aptos"/>
              </a:rPr>
              <a:t>2.038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79145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656C71"/>
                </a:solidFill>
                <a:latin typeface="Aptos"/>
              </a:rPr>
              <a:t>문제 신호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440740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979D"/>
                </a:solidFill>
                <a:latin typeface="Aptos"/>
              </a:rPr>
              <a:t>480 → 288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152" y="479145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656C71"/>
                </a:solidFill>
                <a:latin typeface="Aptos"/>
              </a:rPr>
              <a:t>셀 수 40%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407408"/>
            <a:ext cx="1508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약 2개월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791456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656C71"/>
                </a:solidFill>
                <a:latin typeface="Aptos"/>
              </a:rPr>
              <a:t>문제 발견 → 검차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715000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56C71"/>
                </a:solidFill>
                <a:latin typeface="Aptos"/>
              </a:rPr>
              <a:t>차성문  |  EV Electrical Part Lead · Battery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5916168"/>
            <a:ext cx="510235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19" b="1">
                <a:solidFill>
                  <a:srgbClr val="656C71"/>
                </a:solidFill>
                <a:latin typeface="Aptos"/>
              </a:rPr>
              <a:t>2025 Formula Student Korea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749808"/>
            <a:ext cx="510235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프로젝트 전체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161819"/>
                </a:solidFill>
                <a:latin typeface="Aptos"/>
              </a:rPr>
              <a:t>문제를 발견하고, 기준을 만들고, AI로 좁히고, 실물로 검증했습니다.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30" b="0">
                <a:solidFill>
                  <a:srgbClr val="666D72"/>
                </a:solidFill>
                <a:latin typeface="Aptos"/>
              </a:rPr>
              <a:t>이 포트폴리오는 한 번의 실제 문제를 끝까지 해결한 순서대로 구성했습니다.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문제 발견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기존 Pack 점검 중
2.038 V 저전압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57984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0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재사용 판단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AI로 위험요인 정리
REBUILD 결정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77055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77055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요구조건 정의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77055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77055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출력 · 에너지 · 공간을
설계 기준으로 변환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0096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68112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AI 설계 탐색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68112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전용 계산기 제작
S/P 후보 자동 비교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31152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9168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설계 · 제작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59168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9168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CAD 검증 · 전류경로
냉각 · Segment 제작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22207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50224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50224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고장 해결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50224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50224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BMS 이상 → AI 가설 축소
실물 체결 문제 확인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13263" y="2048256"/>
            <a:ext cx="1517904" cy="226771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41280" y="2185416"/>
            <a:ext cx="411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9" b="1">
                <a:solidFill>
                  <a:srgbClr val="00979D"/>
                </a:solidFill>
                <a:latin typeface="Aptos"/>
              </a:rPr>
              <a:t>07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2505456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61819"/>
                </a:solidFill>
                <a:latin typeface="Aptos"/>
              </a:rPr>
              <a:t>결과 증명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41280" y="2980944"/>
            <a:ext cx="1261872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41280" y="3145536"/>
            <a:ext cx="12618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0">
                <a:solidFill>
                  <a:srgbClr val="666D72"/>
                </a:solidFill>
                <a:latin typeface="Aptos"/>
              </a:rPr>
              <a:t>차량 통합
KSAE 배터리 검차 PASS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681728"/>
            <a:ext cx="11018520" cy="932688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8096" y="489204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979D"/>
                </a:solidFill>
                <a:latin typeface="Aptos"/>
              </a:rPr>
              <a:t>핵심 역할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47088" y="4809744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40" b="1">
                <a:solidFill>
                  <a:srgbClr val="161819"/>
                </a:solidFill>
                <a:latin typeface="Aptos"/>
              </a:rPr>
              <a:t>배터리 시스템 리드
Cell/Segment 재설계 · Pack 제작 · 고장 진단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217920" y="4828032"/>
            <a:ext cx="10972" cy="475488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73952" y="489204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979D"/>
                </a:solidFill>
                <a:latin typeface="Aptos"/>
              </a:rPr>
              <a:t>AI 역할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88352" y="480974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30" b="1">
                <a:solidFill>
                  <a:srgbClr val="161819"/>
                </a:solidFill>
                <a:latin typeface="Aptos"/>
              </a:rPr>
              <a:t>반복 계산 자동화 · 설계 후보 탐색</a:t>
            </a:r>
          </a:p>
          <a:p>
            <a:r>
              <a:rPr sz="930" b="1">
                <a:solidFill>
                  <a:srgbClr val="161819"/>
                </a:solidFill>
                <a:latin typeface="Aptos"/>
              </a:rPr>
              <a:t>고장 가설 축소 · 데이터 해석 보조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907024"/>
            <a:ext cx="11018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10" b="1">
                <a:solidFill>
                  <a:srgbClr val="161819"/>
                </a:solidFill>
                <a:latin typeface="Aptos"/>
              </a:rPr>
              <a:t>문제 발견 → 재사용 판단 → 요구조건 정의 → AI 탐색 → 설계·제작 → 고장 해결 → 공식 검차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실제 문제 발견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기존 Pack을 점검하자 가장 먼저 ‘재사용해도 되는가?’라는 문제가 생겼습니다.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Samsung 30Q 최소 전압 2.5 V보다 낮은 2.038 V를 BMS에서 확인했고, 멀티미터로도 저전압 상태를 재확인했습니다.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BF3027"/>
                </a:solidFill>
                <a:latin typeface="Aptos"/>
              </a:rPr>
              <a:t>2.038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04288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161819"/>
                </a:solidFill>
                <a:latin typeface="Aptos"/>
              </a:rPr>
              <a:t>BMS 최저 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01952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161819"/>
                </a:solidFill>
                <a:latin typeface="Aptos"/>
              </a:rPr>
              <a:t>2.139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04288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>
                <a:solidFill>
                  <a:srgbClr val="161819"/>
                </a:solidFill>
                <a:latin typeface="Aptos"/>
              </a:rPr>
              <a:t>멀티미터 실측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rcRect t="16000" b="14000" l="10000" r="10000"/>
          <a:stretch>
            <a:fillRect/>
          </a:stretch>
        </p:blipFill>
        <p:spPr>
          <a:xfrm>
            <a:off x="566928" y="2761488"/>
            <a:ext cx="3822191" cy="2075688"/>
          </a:xfrm>
          <a:prstGeom prst="rect">
            <a:avLst/>
          </a:prstGeom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566928" y="4882896"/>
            <a:ext cx="38221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DMM · 약 2.139 V 실측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rcRect t="5000" b="5000"/>
          <a:stretch>
            <a:fillRect/>
          </a:stretch>
        </p:blipFill>
        <p:spPr>
          <a:xfrm>
            <a:off x="4663440" y="2761488"/>
            <a:ext cx="6967728" cy="2075688"/>
          </a:xfrm>
          <a:prstGeom prst="rect">
            <a:avLst/>
          </a:prstGeom>
          <a:ln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4663440" y="4882896"/>
            <a:ext cx="6967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ORION BMS · Lowest Cell 2.038 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358384"/>
            <a:ext cx="11073384" cy="475488"/>
          </a:xfrm>
          <a:prstGeom prst="roundRect">
            <a:avLst>
              <a:gd name="adj" fmla="val 8000"/>
            </a:avLst>
          </a:prstGeom>
          <a:solidFill>
            <a:srgbClr val="EFECE8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513832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40" b="1">
                <a:solidFill>
                  <a:srgbClr val="BF3027"/>
                </a:solidFill>
                <a:latin typeface="Aptos"/>
              </a:rPr>
              <a:t>문제 정의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468112"/>
            <a:ext cx="9555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161819"/>
                </a:solidFill>
                <a:latin typeface="Aptos"/>
              </a:rPr>
              <a:t>이 배터리를 고출력 Formula EV에 다시 사용해도 안전한가?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30" b="0">
                <a:solidFill>
                  <a:srgbClr val="656C71"/>
                </a:solidFill>
                <a:latin typeface="Apto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11312" y="1856231"/>
            <a:ext cx="3383280" cy="548640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8928" y="1901952"/>
            <a:ext cx="1691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61819"/>
                </a:solidFill>
                <a:latin typeface="Aptos"/>
              </a:rPr>
              <a:t>2.5 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2304288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61819"/>
                </a:solidFill>
                <a:latin typeface="Aptos"/>
              </a:rPr>
              <a:t>데이터시트 최소전압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34072" y="1856231"/>
            <a:ext cx="4078224" cy="676656"/>
          </a:xfrm>
          <a:prstGeom prst="rect">
            <a:avLst/>
          </a:prstGeom>
          <a:solidFill>
            <a:srgbClr val="F5F6F4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44383" y="1956816"/>
            <a:ext cx="102412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1">
                <a:solidFill>
                  <a:srgbClr val="00979D"/>
                </a:solidFill>
                <a:latin typeface="Aptos"/>
              </a:rPr>
              <a:t>판단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1911095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50" b="1">
                <a:solidFill>
                  <a:srgbClr val="BF3027"/>
                </a:solidFill>
                <a:latin typeface="Aptos"/>
              </a:rPr>
              <a:t>2.038 V  &lt;  2.5 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3" y="2221992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>
                <a:solidFill>
                  <a:srgbClr val="161819"/>
                </a:solidFill>
                <a:latin typeface="Aptos"/>
              </a:rPr>
              <a:t>최소 사용전압 아래 → 재사용 가능성부터 검토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안전성 판단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저전압을 발견한 뒤, 바로 충전하지 않고 재사용 가능성부터 판단했습니다.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AI로 위험요인과 점검항목을 구조화한 뒤 공식자료와 실측을 확인했고, 최종적으로 REBUILD를 선택했습니다.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1965960"/>
            <a:ext cx="29077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입력한 데이터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304288"/>
            <a:ext cx="2907792" cy="10972"/>
          </a:xfrm>
          <a:prstGeom prst="rect">
            <a:avLst/>
          </a:prstGeom>
          <a:solidFill>
            <a:srgbClr val="DE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1965960"/>
            <a:ext cx="2907792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AI가 정리한 항목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2304288"/>
            <a:ext cx="2907792" cy="10972"/>
          </a:xfrm>
          <a:prstGeom prst="rect">
            <a:avLst/>
          </a:prstGeom>
          <a:solidFill>
            <a:srgbClr val="DE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2578608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56032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Cell ≈ 2.1 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145536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3127248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BMS cell spread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12463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3694176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Pack 관리 이력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279392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261104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Formula EV 고출력 사용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2578608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42231" y="2560320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과방전 위험요인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3145536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42231" y="3127248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열화·내부저항 증가 가능성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03320" y="3712463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42231" y="3694176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추가 점검 항목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03320" y="4279392"/>
            <a:ext cx="29260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E767C"/>
                </a:solidFill>
                <a:latin typeface="Aptos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42231" y="4261104"/>
            <a:ext cx="24688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  <a:latin typeface="Aptos"/>
              </a:rPr>
              <a:t>재충전·재사용 리스크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03720" y="1920240"/>
            <a:ext cx="4727448" cy="2971800"/>
          </a:xfrm>
          <a:prstGeom prst="roundRect">
            <a:avLst/>
          </a:prstGeom>
          <a:solidFill>
            <a:srgbClr val="1A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96328" y="2194560"/>
            <a:ext cx="4142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최종 판단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6328" y="2724912"/>
            <a:ext cx="4142232" cy="8046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7F7F5"/>
                </a:solidFill>
                <a:latin typeface="Aptos"/>
              </a:rPr>
              <a:t>REBUILD,
NOT REPAIR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96328" y="3877056"/>
            <a:ext cx="4142232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F7F7F5"/>
                </a:solidFill>
                <a:latin typeface="Aptos"/>
              </a:rPr>
              <a:t>기존 Pack 재사용보다
신규 Battery System 설계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330952"/>
            <a:ext cx="11055096" cy="10972"/>
          </a:xfrm>
          <a:prstGeom prst="rect">
            <a:avLst/>
          </a:prstGeom>
          <a:solidFill>
            <a:srgbClr val="DE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5504688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AI 출력 ≠ 최종 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480" y="5468112"/>
            <a:ext cx="6766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19" b="1">
                <a:solidFill>
                  <a:srgbClr val="141617"/>
                </a:solidFill>
                <a:latin typeface="Aptos"/>
              </a:rPr>
              <a:t>데이터 · 공식자료 · 실측으로 검증 후 최종 판단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301752"/>
            <a:ext cx="2240280" cy="310896"/>
          </a:xfrm>
          <a:prstGeom prst="roundRect">
            <a:avLst/>
          </a:prstGeom>
          <a:solidFill>
            <a:srgbClr val="FAF9F7"/>
          </a:solidFill>
          <a:ln w="1016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36024" y="370332"/>
            <a:ext cx="203911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>
                <a:solidFill>
                  <a:srgbClr val="00979D"/>
                </a:solidFill>
                <a:latin typeface="Aptos"/>
              </a:rPr>
              <a:t>AI USED · 위험요인 구조화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설계 제약조건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새 Pack을 만들기로 했지만, 차량의 Battery Box 공간은 이미 고정돼 있었습니다.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따라서 ‘전기적으로 가능한 Pack’이 아니라 ‘정해진 공간 안에서 실제 제작 가능한 Pack’을 만들어야 했습니다.</a:t>
            </a:r>
          </a:p>
        </p:txBody>
      </p:sp>
      <p:pic>
        <p:nvPicPr>
          <p:cNvPr id="8" name="Picture 7" descr="s05_p0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1993392"/>
            <a:ext cx="5687568" cy="317296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6720840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고정된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359152"/>
            <a:ext cx="4709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전기적으로 되는 Pack이 아니라,</a:t>
            </a:r>
          </a:p>
          <a:p>
            <a:r>
              <a:rPr>
                <a:latin typeface="Aptos"/>
              </a:rPr>
              <a:t>고정된 차량 공간 안에서 실제 제작 가능한 Pack.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511296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01 · 패키징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493008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1617"/>
                </a:solidFill>
                <a:latin typeface="Aptos"/>
              </a:rPr>
              <a:t>기존 Frame 내부에서만 설계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02336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02 · 냉각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00507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1617"/>
                </a:solidFill>
                <a:latin typeface="Aptos"/>
              </a:rPr>
              <a:t>셀 간격과 팬 유로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535424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03 · 정비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4517136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1617"/>
                </a:solidFill>
                <a:latin typeface="Aptos"/>
              </a:rPr>
              <a:t>배선·정비 접근성 고려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047488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04 · 공차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5029200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1617"/>
                </a:solidFill>
                <a:latin typeface="Aptos"/>
              </a:rPr>
              <a:t>조립 공차까지 같은 공간 안에서 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98932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30" b="0">
                <a:solidFill>
                  <a:srgbClr val="656C71"/>
                </a:solidFill>
                <a:latin typeface="Aptos"/>
              </a:rPr>
              <a:t>기존 Battery Box 외형 안에서 재설계 · 실제 Box 치수는 CAD/실측으로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요구조건 정의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고정된 공간 안에서 필요한 전압·에너지·전류 목표를 먼저 정했습니다.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차량 출력과 기존 Pack 성능을 설계 기준으로 바꿔, 셀과 S/P 조합을 걸러낼 기준을 만들었습니다.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1938528"/>
            <a:ext cx="5074920" cy="3273552"/>
          </a:xfrm>
          <a:prstGeom prst="rect">
            <a:avLst/>
          </a:prstGeom>
          <a:solidFill>
            <a:srgbClr val="FAF9F7"/>
          </a:solidFill>
          <a:ln w="10160">
            <a:solidFill>
              <a:srgbClr val="D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1938528"/>
            <a:ext cx="5431536" cy="3273552"/>
          </a:xfrm>
          <a:prstGeom prst="rect">
            <a:avLst/>
          </a:prstGeom>
          <a:solidFill>
            <a:srgbClr val="FAF9F7"/>
          </a:solidFill>
          <a:ln w="10160">
            <a:solidFill>
              <a:srgbClr val="D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1938528"/>
            <a:ext cx="5074920" cy="566928"/>
          </a:xfrm>
          <a:prstGeom prst="rect">
            <a:avLst/>
          </a:prstGeom>
          <a:solidFill>
            <a:srgbClr val="F2F2F0"/>
          </a:solidFill>
          <a:ln w="10160">
            <a:solidFill>
              <a:srgbClr val="D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1344" y="1938528"/>
            <a:ext cx="5431536" cy="566928"/>
          </a:xfrm>
          <a:prstGeom prst="rect">
            <a:avLst/>
          </a:prstGeom>
          <a:solidFill>
            <a:srgbClr val="F2F2F0"/>
          </a:solidFill>
          <a:ln w="10160">
            <a:solidFill>
              <a:srgbClr val="D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2039112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기존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2029968"/>
            <a:ext cx="361188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97075"/>
                </a:solidFill>
                <a:latin typeface="Aptos"/>
              </a:rPr>
              <a:t>차량 / 기존 Pack 조건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2039112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설계 목표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0336" y="2029968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>
                <a:solidFill>
                  <a:srgbClr val="666D72"/>
                </a:solidFill>
                <a:latin typeface="Aptos"/>
              </a:rPr>
              <a:t>셀 후보 Screening 기준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27432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구동계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39696" y="2734056"/>
            <a:ext cx="32644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0">
                <a:solidFill>
                  <a:srgbClr val="161819"/>
                </a:solidFill>
                <a:latin typeface="Aptos"/>
              </a:rPr>
              <a:t>ME1616 · 22 kW 연속 @ 96 V</a:t>
            </a:r>
          </a:p>
          <a:p>
            <a:r>
              <a:rPr sz="969" b="0">
                <a:solidFill>
                  <a:srgbClr val="161819"/>
                </a:solidFill>
                <a:latin typeface="Aptos"/>
              </a:rPr>
              <a:t>Sevcon Gen4 Size 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3319272"/>
            <a:ext cx="4636008" cy="10972"/>
          </a:xfrm>
          <a:prstGeom prst="rect">
            <a:avLst/>
          </a:prstGeom>
          <a:solidFill>
            <a:srgbClr val="D6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349300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기존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39696" y="3483864"/>
            <a:ext cx="3264408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30" b="0">
                <a:solidFill>
                  <a:srgbClr val="161819"/>
                </a:solidFill>
                <a:latin typeface="Aptos"/>
              </a:rPr>
              <a:t>86.4 V nominal · 60 Ah · 5.184 kWh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" y="4069080"/>
            <a:ext cx="4636008" cy="10972"/>
          </a:xfrm>
          <a:prstGeom prst="rect">
            <a:avLst/>
          </a:prstGeom>
          <a:solidFill>
            <a:srgbClr val="D6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24281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고정 조건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9696" y="4233672"/>
            <a:ext cx="32644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69" b="0">
                <a:solidFill>
                  <a:srgbClr val="161819"/>
                </a:solidFill>
                <a:latin typeface="Aptos"/>
              </a:rPr>
              <a:t>기존 Battery Box 공간</a:t>
            </a:r>
          </a:p>
          <a:p>
            <a:r>
              <a:rPr sz="969" b="0">
                <a:solidFill>
                  <a:srgbClr val="161819"/>
                </a:solidFill>
                <a:latin typeface="Aptos"/>
              </a:rPr>
              <a:t>KSAE 전기 규정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97112" y="2743200"/>
            <a:ext cx="10972" cy="2212848"/>
          </a:xfrm>
          <a:prstGeom prst="rect">
            <a:avLst/>
          </a:prstGeom>
          <a:solidFill>
            <a:srgbClr val="D6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849624"/>
            <a:ext cx="4992624" cy="10972"/>
          </a:xfrm>
          <a:prstGeom prst="rect">
            <a:avLst/>
          </a:prstGeom>
          <a:solidFill>
            <a:srgbClr val="D6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2907792"/>
            <a:ext cx="216712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61819"/>
                </a:solidFill>
                <a:latin typeface="Aptos"/>
              </a:rPr>
              <a:t>86.4 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364992"/>
            <a:ext cx="21671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공칭 전압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61704" y="2907792"/>
            <a:ext cx="216712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61819"/>
                </a:solidFill>
                <a:latin typeface="Aptos"/>
              </a:rPr>
              <a:t>100.8 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1704" y="3364992"/>
            <a:ext cx="21671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최대 전압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65392" y="4014215"/>
            <a:ext cx="2167128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61819"/>
                </a:solidFill>
                <a:latin typeface="Aptos"/>
              </a:rPr>
              <a:t>5.184 kWh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65392" y="4471416"/>
            <a:ext cx="21671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유지할 에너지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61704" y="4014215"/>
            <a:ext cx="21671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00979D"/>
                </a:solidFill>
                <a:latin typeface="Aptos"/>
              </a:rPr>
              <a:t>300 A급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61704" y="4471416"/>
            <a:ext cx="21671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설계 전류 등급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5468112"/>
            <a:ext cx="11045952" cy="676656"/>
          </a:xfrm>
          <a:prstGeom prst="rect">
            <a:avLst/>
          </a:prstGeom>
          <a:solidFill>
            <a:srgbClr val="FAF9F7"/>
          </a:solidFill>
          <a:ln w="10160">
            <a:solidFill>
              <a:srgbClr val="D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011680" y="5596128"/>
            <a:ext cx="10972" cy="420623"/>
          </a:xfrm>
          <a:prstGeom prst="rect">
            <a:avLst/>
          </a:prstGeom>
          <a:solidFill>
            <a:srgbClr val="D6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656832" y="5596128"/>
            <a:ext cx="10972" cy="420623"/>
          </a:xfrm>
          <a:prstGeom prst="rect">
            <a:avLst/>
          </a:prstGeom>
          <a:solidFill>
            <a:srgbClr val="D6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" y="565099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1차 선별 근거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67712" y="563270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19" b="1">
                <a:solidFill>
                  <a:srgbClr val="161819"/>
                </a:solidFill>
                <a:latin typeface="Aptos"/>
              </a:rPr>
              <a:t>22 kW ÷ 0.94 ÷ 86.4 V ≈ 271 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03720" y="557784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10" b="0">
                <a:solidFill>
                  <a:srgbClr val="656C71"/>
                </a:solidFill>
                <a:latin typeface="Aptos"/>
              </a:rPr>
              <a:t>효율 94% 가정의 1차 선별값 → 300 A급 설계 목표로 상향</a:t>
            </a:r>
          </a:p>
          <a:p>
            <a:r>
              <a:rPr sz="810" b="0">
                <a:solidFill>
                  <a:srgbClr val="656C71"/>
                </a:solidFill>
                <a:latin typeface="Aptos"/>
              </a:rPr>
              <a:t>실제 운전값은 Controller map으로 재검증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AI 설계 도구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반복 계산이 많아지자 AI를 이용해 전용 배터리 설계 계산기를 만들었습니다.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셀 모델과 S/P, 배치 조건을 입력하면 전압·전류·용량·에너지·질량·1차 패키징 치수를 자동 계산하도록 구현했습니다.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1938528"/>
            <a:ext cx="6812280" cy="3703320"/>
          </a:xfrm>
          <a:prstGeom prst="rect">
            <a:avLst/>
          </a:prstGeom>
          <a:solidFill>
            <a:srgbClr val="FAF9F7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1938528"/>
            <a:ext cx="6812280" cy="384048"/>
          </a:xfrm>
          <a:prstGeom prst="rect">
            <a:avLst/>
          </a:prstGeom>
          <a:solidFill>
            <a:srgbClr val="F5F6F4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203911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실제 제작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2020824"/>
            <a:ext cx="5212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950" b="1">
                <a:solidFill>
                  <a:srgbClr val="686F74"/>
                </a:solidFill>
                <a:latin typeface="Aptos"/>
              </a:rPr>
              <a:t>Formula Student Battery Pack Calculator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32304"/>
            <a:ext cx="6519672" cy="30175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626096" y="1938528"/>
            <a:ext cx="3703320" cy="1005840"/>
          </a:xfrm>
          <a:prstGeom prst="rect">
            <a:avLst/>
          </a:prstGeom>
          <a:solidFill>
            <a:srgbClr val="FAF9F7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26096" y="1938528"/>
            <a:ext cx="3703320" cy="310896"/>
          </a:xfrm>
          <a:prstGeom prst="rect">
            <a:avLst/>
          </a:prstGeom>
          <a:solidFill>
            <a:srgbClr val="F5F6F4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90688" y="2011680"/>
            <a:ext cx="3374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01 · 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0688" y="2359152"/>
            <a:ext cx="337413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80" b="0">
                <a:solidFill>
                  <a:srgbClr val="161819"/>
                </a:solidFill>
                <a:latin typeface="Aptos"/>
              </a:rPr>
              <a:t>셀 모델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S / P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가로·세로 Cell 수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간격 · 방향 · 여유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26096" y="3099816"/>
            <a:ext cx="3703320" cy="1115568"/>
          </a:xfrm>
          <a:prstGeom prst="rect">
            <a:avLst/>
          </a:prstGeom>
          <a:solidFill>
            <a:srgbClr val="FAF9F7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26096" y="3099816"/>
            <a:ext cx="3703320" cy="310896"/>
          </a:xfrm>
          <a:prstGeom prst="rect">
            <a:avLst/>
          </a:prstGeom>
          <a:solidFill>
            <a:srgbClr val="F5F6F4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0688" y="3172968"/>
            <a:ext cx="3374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02 · 계산 로직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0688" y="3520440"/>
            <a:ext cx="337413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80" b="0">
                <a:solidFill>
                  <a:srgbClr val="161819"/>
                </a:solidFill>
                <a:latin typeface="Aptos"/>
              </a:rPr>
              <a:t>Cell DB 자동 조회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전기 사양 계산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배치 치수 계산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Excel 수식 자동화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6096" y="4370832"/>
            <a:ext cx="3703320" cy="1271016"/>
          </a:xfrm>
          <a:prstGeom prst="rect">
            <a:avLst/>
          </a:prstGeom>
          <a:solidFill>
            <a:srgbClr val="FAF9F7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26096" y="4370832"/>
            <a:ext cx="3703320" cy="310896"/>
          </a:xfrm>
          <a:prstGeom prst="rect">
            <a:avLst/>
          </a:prstGeom>
          <a:solidFill>
            <a:srgbClr val="F5F6F4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90688" y="4443984"/>
            <a:ext cx="33741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03 · 출력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0688" y="4791456"/>
            <a:ext cx="3374136" cy="758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80" b="0">
                <a:solidFill>
                  <a:srgbClr val="161819"/>
                </a:solidFill>
                <a:latin typeface="Aptos"/>
              </a:rPr>
              <a:t>전압 · 전류 · 용량 · 에너지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Cell 질량</a:t>
            </a:r>
          </a:p>
          <a:p>
            <a:r>
              <a:rPr sz="980" b="0">
                <a:solidFill>
                  <a:srgbClr val="161819"/>
                </a:solidFill>
                <a:latin typeface="Aptos"/>
              </a:rPr>
              <a:t>1차 Pack L × W × 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5797296"/>
            <a:ext cx="11045952" cy="676656"/>
          </a:xfrm>
          <a:prstGeom prst="rect">
            <a:avLst/>
          </a:prstGeom>
          <a:solidFill>
            <a:srgbClr val="FAF9F7"/>
          </a:solidFill>
          <a:ln w="10160">
            <a:solidFill>
              <a:srgbClr val="D7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5916168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설계 효과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5870448"/>
            <a:ext cx="3840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0" b="1">
                <a:solidFill>
                  <a:srgbClr val="161819"/>
                </a:solidFill>
                <a:latin typeface="Aptos"/>
              </a:rPr>
              <a:t>반복 계산을 수작업에서 제거하고,
조건을 바꿔가며 설계 후보를 빠르게 좁혔습니다.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5897880"/>
            <a:ext cx="10972" cy="411480"/>
          </a:xfrm>
          <a:prstGeom prst="rect">
            <a:avLst/>
          </a:prstGeom>
          <a:solidFill>
            <a:srgbClr val="D7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65392" y="5916168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예시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852160"/>
            <a:ext cx="3794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90" b="1">
                <a:solidFill>
                  <a:srgbClr val="161819"/>
                </a:solidFill>
                <a:latin typeface="Aptos"/>
              </a:rPr>
              <a:t>Samsung 50S · 24S12P</a:t>
            </a:r>
          </a:p>
          <a:p>
            <a:pPr algn="r"/>
            <a:r>
              <a:rPr sz="890" b="1">
                <a:solidFill>
                  <a:srgbClr val="161819"/>
                </a:solidFill>
                <a:latin typeface="Aptos"/>
              </a:rPr>
              <a:t>288 cells · 86.4 V · 60 Ah · 5.184 kWh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01752"/>
            <a:ext cx="2240280" cy="310896"/>
          </a:xfrm>
          <a:prstGeom prst="roundRect">
            <a:avLst/>
          </a:prstGeom>
          <a:solidFill>
            <a:srgbClr val="FAF9F7"/>
          </a:solidFill>
          <a:ln w="1016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36024" y="370332"/>
            <a:ext cx="203911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>
                <a:solidFill>
                  <a:srgbClr val="00979D"/>
                </a:solidFill>
                <a:latin typeface="Aptos"/>
              </a:rPr>
              <a:t>AI USED · 전용 계산기 제작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AI 설계안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이제 계산기로 여러 구성을 같은 기준에서 비교했습니다.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8P·10P·12P·14P를 비교해 요구조건을 처음으로 모두 만족한 12P를 선택했습니다.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8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235440" y="301752"/>
            <a:ext cx="2240280" cy="310896"/>
          </a:xfrm>
          <a:prstGeom prst="roundRect">
            <a:avLst/>
          </a:prstGeom>
          <a:solidFill>
            <a:srgbClr val="FAF9F7"/>
          </a:solidFill>
          <a:ln w="1016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36024" y="370332"/>
            <a:ext cx="203911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>
                <a:solidFill>
                  <a:srgbClr val="00979D"/>
                </a:solidFill>
                <a:latin typeface="Aptos"/>
              </a:rPr>
              <a:t>AI USED · 후보 공간 탐색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1901952"/>
            <a:ext cx="8732520" cy="457200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8096" y="201168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설계 목표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64208" y="1993392"/>
            <a:ext cx="7269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>
                <a:solidFill>
                  <a:srgbClr val="161819"/>
                </a:solidFill>
                <a:latin typeface="Aptos"/>
              </a:rPr>
              <a:t>≈271 A 1차 선별 · 60 Ah · 5.184 kWh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6928" y="2487168"/>
            <a:ext cx="1078992" cy="402336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0080" y="2587752"/>
            <a:ext cx="93268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>
                <a:solidFill>
                  <a:srgbClr val="666D72"/>
                </a:solidFill>
                <a:latin typeface="Aptos"/>
              </a:rPr>
              <a:t>후보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45920" y="2487168"/>
            <a:ext cx="1554480" cy="402336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719072" y="2587752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>
                <a:solidFill>
                  <a:srgbClr val="666D72"/>
                </a:solidFill>
                <a:latin typeface="Aptos"/>
              </a:rPr>
              <a:t>전류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2487168"/>
            <a:ext cx="1554480" cy="402336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73552" y="2587752"/>
            <a:ext cx="14081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>
                <a:solidFill>
                  <a:srgbClr val="666D72"/>
                </a:solidFill>
                <a:latin typeface="Aptos"/>
              </a:rPr>
              <a:t>에너지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2487168"/>
            <a:ext cx="1417320" cy="402336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828032" y="2587752"/>
            <a:ext cx="127101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>
                <a:solidFill>
                  <a:srgbClr val="666D72"/>
                </a:solidFill>
                <a:latin typeface="Aptos"/>
              </a:rPr>
              <a:t>셀 질량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2487168"/>
            <a:ext cx="2240280" cy="402336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45352" y="2587752"/>
            <a:ext cx="209397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>
                <a:solidFill>
                  <a:srgbClr val="666D72"/>
                </a:solidFill>
                <a:latin typeface="Aptos"/>
              </a:rPr>
              <a:t>판정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2889504"/>
            <a:ext cx="1078992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3044952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24s8p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45920" y="2889504"/>
            <a:ext cx="15544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719072" y="3044952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200 A · 미달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0" y="2889504"/>
            <a:ext cx="15544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73552" y="3044952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3.46 kWh · 미달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54880" y="2889504"/>
            <a:ext cx="141732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28032" y="3044952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13.8 kg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72200" y="2889504"/>
            <a:ext cx="22402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45352" y="304495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제외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66928" y="3511296"/>
            <a:ext cx="1078992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3666744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24s10p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45920" y="3511296"/>
            <a:ext cx="15544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719072" y="3666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250 A · 미달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200400" y="3511296"/>
            <a:ext cx="15544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73552" y="3666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4.32 kWh · 미달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54880" y="3511296"/>
            <a:ext cx="141732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28032" y="3666744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17.3 kg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72200" y="3511296"/>
            <a:ext cx="22402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245352" y="3666744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제외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6928" y="4133087"/>
            <a:ext cx="1078992" cy="548640"/>
          </a:xfrm>
          <a:prstGeom prst="rect">
            <a:avLst/>
          </a:prstGeom>
          <a:solidFill>
            <a:srgbClr val="F7FAF9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" y="4288536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161819"/>
                </a:solidFill>
                <a:latin typeface="Aptos"/>
              </a:rPr>
              <a:t>24s12p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45920" y="4133087"/>
            <a:ext cx="1554480" cy="548640"/>
          </a:xfrm>
          <a:prstGeom prst="rect">
            <a:avLst/>
          </a:prstGeom>
          <a:solidFill>
            <a:srgbClr val="F7FAF9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719072" y="428853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300 A · 충족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0" y="4133087"/>
            <a:ext cx="1554480" cy="548640"/>
          </a:xfrm>
          <a:prstGeom prst="rect">
            <a:avLst/>
          </a:prstGeom>
          <a:solidFill>
            <a:srgbClr val="F7FAF9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73552" y="4288536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5.18 kWh · 충족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754880" y="4133087"/>
            <a:ext cx="1417320" cy="548640"/>
          </a:xfrm>
          <a:prstGeom prst="rect">
            <a:avLst/>
          </a:prstGeom>
          <a:solidFill>
            <a:srgbClr val="F7FAF9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28032" y="4288536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161819"/>
                </a:solidFill>
                <a:latin typeface="Aptos"/>
              </a:rPr>
              <a:t>20.7 kg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72200" y="4133087"/>
            <a:ext cx="2240280" cy="548640"/>
          </a:xfrm>
          <a:prstGeom prst="rect">
            <a:avLst/>
          </a:prstGeom>
          <a:solidFill>
            <a:srgbClr val="F7FAF9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45352" y="4288536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40" b="1">
                <a:solidFill>
                  <a:srgbClr val="00979D"/>
                </a:solidFill>
                <a:latin typeface="Aptos"/>
              </a:rPr>
              <a:t>선택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" y="4754880"/>
            <a:ext cx="1078992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4910328"/>
            <a:ext cx="93268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24s14p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645920" y="4754880"/>
            <a:ext cx="15544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719072" y="4910328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350 A · 충족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00400" y="4754880"/>
            <a:ext cx="15544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273552" y="4910328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6.05 kWh · 충족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754880" y="4754880"/>
            <a:ext cx="141732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828032" y="4910328"/>
            <a:ext cx="127101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24.2 kg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72200" y="4754880"/>
            <a:ext cx="2240280" cy="548640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45352" y="4910328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0" b="0">
                <a:solidFill>
                  <a:srgbClr val="161819"/>
                </a:solidFill>
                <a:latin typeface="Aptos"/>
              </a:rPr>
              <a:t>과설계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528048" y="2487168"/>
            <a:ext cx="2084831" cy="2816352"/>
          </a:xfrm>
          <a:prstGeom prst="rect">
            <a:avLst/>
          </a:prstGeom>
          <a:solidFill>
            <a:srgbClr val="FAF9F7"/>
          </a:solidFill>
          <a:ln w="1270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747504" y="272491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최종 선택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710928" y="3108960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161819"/>
                </a:solidFill>
                <a:latin typeface="Aptos"/>
              </a:rPr>
              <a:t>24S × 12P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765792" y="3675887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0" b="1">
                <a:solidFill>
                  <a:srgbClr val="666D72"/>
                </a:solidFill>
                <a:latin typeface="Aptos"/>
              </a:rPr>
              <a:t>288 cells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802368" y="4041648"/>
            <a:ext cx="1508760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710928" y="4224528"/>
            <a:ext cx="17373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>
                <a:solidFill>
                  <a:srgbClr val="161819"/>
                </a:solidFill>
                <a:latin typeface="Aptos"/>
              </a:rPr>
              <a:t>요구조건 최초 충족</a:t>
            </a:r>
          </a:p>
          <a:p>
            <a:pPr algn="ctr"/>
            <a:r>
              <a:rPr sz="860" b="1">
                <a:solidFill>
                  <a:srgbClr val="161819"/>
                </a:solidFill>
                <a:latin typeface="Aptos"/>
              </a:rPr>
              <a:t>14P보다 48 cells,</a:t>
            </a:r>
          </a:p>
          <a:p>
            <a:pPr algn="ctr"/>
            <a:r>
              <a:rPr sz="860" b="1">
                <a:solidFill>
                  <a:srgbClr val="161819"/>
                </a:solidFill>
                <a:latin typeface="Aptos"/>
              </a:rPr>
              <a:t>약 3.5 kg 절감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550468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90" b="0">
                <a:solidFill>
                  <a:srgbClr val="656C71"/>
                </a:solidFill>
                <a:latin typeface="Aptos"/>
              </a:rPr>
              <a:t>* Samsung 50S · 연속 25 A · 72 g/cell 기준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565392" y="5486400"/>
            <a:ext cx="4983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161819"/>
                </a:solidFill>
                <a:latin typeface="Aptos"/>
              </a:rPr>
              <a:t>숫자가 아니라 ‘조건을 처음 만족한 지점’을 선택했습니다.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재설계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선택한 24S12P 구조는 셀 수와 질량을 줄이면서 목표 성능은 유지했습니다.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480 → 288 cells, 평균 Segment 6.0 → 5.5 kg. 60 Ah와 5.184 kWh는 그대로 유지했습니다.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2011680"/>
            <a:ext cx="5074920" cy="3127248"/>
          </a:xfrm>
          <a:prstGeom prst="rect">
            <a:avLst/>
          </a:prstGeom>
          <a:solidFill>
            <a:srgbClr val="FAF9F7"/>
          </a:solidFill>
          <a:ln w="12700">
            <a:solidFill>
              <a:srgbClr val="D6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" y="2011680"/>
            <a:ext cx="5074920" cy="512064"/>
          </a:xfrm>
          <a:prstGeom prst="rect">
            <a:avLst/>
          </a:prstGeom>
          <a:solidFill>
            <a:srgbClr val="F4F5F3"/>
          </a:solidFill>
          <a:ln w="12700">
            <a:solidFill>
              <a:srgbClr val="D6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213055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기존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1952" y="2103120"/>
            <a:ext cx="3493008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50" b="0">
                <a:solidFill>
                  <a:srgbClr val="666D72"/>
                </a:solidFill>
                <a:latin typeface="Aptos"/>
              </a:rPr>
              <a:t>기존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2724912"/>
            <a:ext cx="28346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18650 30Q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2724912"/>
            <a:ext cx="16276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20" b="1">
                <a:solidFill>
                  <a:srgbClr val="666D72"/>
                </a:solidFill>
                <a:latin typeface="Aptos"/>
              </a:rPr>
              <a:t>24s20p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31820" y="3236976"/>
            <a:ext cx="10972" cy="1572768"/>
          </a:xfrm>
          <a:prstGeom prst="rect">
            <a:avLst/>
          </a:prstGeom>
          <a:solidFill>
            <a:srgbClr val="D6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" y="4023360"/>
            <a:ext cx="4636008" cy="10972"/>
          </a:xfrm>
          <a:prstGeom prst="rect">
            <a:avLst/>
          </a:prstGeom>
          <a:solidFill>
            <a:srgbClr val="D6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346704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161819"/>
                </a:solidFill>
                <a:latin typeface="Aptos"/>
              </a:rPr>
              <a:t>480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3712464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셀 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78124" y="3346704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6.0 kg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8124" y="3712464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평균 Segment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4133088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60 Ah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4498848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용량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78124" y="4133088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5.184 kWh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78124" y="4498848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에너지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2011680"/>
            <a:ext cx="5074920" cy="3127248"/>
          </a:xfrm>
          <a:prstGeom prst="rect">
            <a:avLst/>
          </a:prstGeom>
          <a:solidFill>
            <a:srgbClr val="FAF9F7"/>
          </a:solidFill>
          <a:ln w="12700">
            <a:solidFill>
              <a:srgbClr val="D6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91072" y="2011680"/>
            <a:ext cx="5074920" cy="512064"/>
          </a:xfrm>
          <a:prstGeom prst="rect">
            <a:avLst/>
          </a:prstGeom>
          <a:solidFill>
            <a:srgbClr val="F4F5F3"/>
          </a:solidFill>
          <a:ln w="12700">
            <a:solidFill>
              <a:srgbClr val="D6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213055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재설계 PACK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98664" y="2103120"/>
            <a:ext cx="34930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재설계 Pack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0528" y="2724912"/>
            <a:ext cx="283464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21700 50S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45752" y="2724912"/>
            <a:ext cx="16276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20" b="1">
                <a:solidFill>
                  <a:srgbClr val="666D72"/>
                </a:solidFill>
                <a:latin typeface="Aptos"/>
              </a:rPr>
              <a:t>24s12p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28532" y="3236976"/>
            <a:ext cx="10972" cy="1572768"/>
          </a:xfrm>
          <a:prstGeom prst="rect">
            <a:avLst/>
          </a:prstGeom>
          <a:solidFill>
            <a:srgbClr val="D6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10528" y="4023360"/>
            <a:ext cx="4636008" cy="10972"/>
          </a:xfrm>
          <a:prstGeom prst="rect">
            <a:avLst/>
          </a:prstGeom>
          <a:solidFill>
            <a:srgbClr val="D6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56832" y="3346704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0979D"/>
                </a:solidFill>
                <a:latin typeface="Aptos"/>
              </a:rPr>
              <a:t>288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2" y="3712464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셀 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74836" y="3346704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00979D"/>
                </a:solidFill>
                <a:latin typeface="Aptos"/>
              </a:rPr>
              <a:t>5.5 kg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74836" y="3712464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평균 Segment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56832" y="4133088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60 Ah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56832" y="4498848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용량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4836" y="4133088"/>
            <a:ext cx="20253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61819"/>
                </a:solidFill>
                <a:latin typeface="Aptos"/>
              </a:rPr>
              <a:t>5.184 kWh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74836" y="4498848"/>
            <a:ext cx="202539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30" b="1">
                <a:solidFill>
                  <a:srgbClr val="666D72"/>
                </a:solidFill>
                <a:latin typeface="Aptos"/>
              </a:rPr>
              <a:t>에너지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5413248"/>
            <a:ext cx="10771632" cy="804672"/>
          </a:xfrm>
          <a:prstGeom prst="rect">
            <a:avLst/>
          </a:prstGeom>
          <a:solidFill>
            <a:srgbClr val="FAF9F7"/>
          </a:solidFill>
          <a:ln w="12700">
            <a:solidFill>
              <a:srgbClr val="D6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04688" y="5550408"/>
            <a:ext cx="10972" cy="530352"/>
          </a:xfrm>
          <a:prstGeom prst="rect">
            <a:avLst/>
          </a:prstGeom>
          <a:solidFill>
            <a:srgbClr val="D6DB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552297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감소한 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74519" y="5504688"/>
            <a:ext cx="33284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셀 수 −40%   ·   평균 Segment 질량 −8.3%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" y="5833872"/>
            <a:ext cx="43891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66D72"/>
                </a:solidFill>
                <a:latin typeface="Aptos"/>
              </a:rPr>
              <a:t>480 → 288 cells    |    6.0 → 5.5 kg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42432" y="5522976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유지한 목표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78624" y="5504688"/>
            <a:ext cx="373075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공칭 86.4 V · 최대 100.8 V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78624" y="5833872"/>
            <a:ext cx="3730752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919" b="0">
                <a:solidFill>
                  <a:srgbClr val="666D72"/>
                </a:solidFill>
                <a:latin typeface="Aptos"/>
              </a:rPr>
              <a:t>60 Ah · 5.184 kWh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CAD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계산으로 고른 구조가 실제 차량 공간에도 들어가는지 CAD에서 다시 확인했습니다.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Clearance · Cooling path · Serviceability를 검토해 ‘계산상 가능’에서 ‘제작 가능한 구조’로 좁혔습니다.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기존</a:t>
            </a:r>
          </a:p>
        </p:txBody>
      </p:sp>
      <p:pic>
        <p:nvPicPr>
          <p:cNvPr id="9" name="Picture 8" descr="s05_p0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2212848"/>
            <a:ext cx="5230368" cy="3108960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6382512" y="1920240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재설계</a:t>
            </a:r>
          </a:p>
        </p:txBody>
      </p:sp>
      <p:pic>
        <p:nvPicPr>
          <p:cNvPr id="12" name="Picture 11" descr="s10_p0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82512" y="2212848"/>
            <a:ext cx="5230368" cy="3108960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66928" y="5559552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DA3"/>
                </a:solidFill>
                <a:latin typeface="Aptos"/>
              </a:rPr>
              <a:t>4s12p ×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553212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Segment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5559552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간섭 여유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553212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Frame / 정비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8704" y="5559552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냉각 경로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5532120"/>
            <a:ext cx="2057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Cell 간격 / Fan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전류 경로 재설계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다음 문제는 300 A급 전류를 실제 하드웨어가 안전하게 전달하는 것이었습니다.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Nickel은 Spot-weld interface에 남기고, 주전류 경로는 Copper 중심으로 확장했습니다.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rcRect t="1211" b="1211"/>
          <a:stretch>
            <a:fillRect/>
          </a:stretch>
        </p:blipFill>
        <p:spPr>
          <a:xfrm>
            <a:off x="566928" y="1920240"/>
            <a:ext cx="5257800" cy="2487168"/>
          </a:xfrm>
          <a:prstGeom prst="rect">
            <a:avLst/>
          </a:prstGeom>
          <a:ln>
            <a:noFill/>
          </a:ln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rcRect t="3342" b="3342"/>
          <a:stretch>
            <a:fillRect/>
          </a:stretch>
        </p:blipFill>
        <p:spPr>
          <a:xfrm>
            <a:off x="6199632" y="1920240"/>
            <a:ext cx="5257800" cy="2487168"/>
          </a:xfrm>
          <a:prstGeom prst="rect">
            <a:avLst/>
          </a:prstGeom>
          <a:ln>
            <a:noFill/>
          </a:ln>
        </p:spPr>
      </p:pic>
      <p:sp>
        <p:nvSpPr>
          <p:cNvPr id="28" name="TextBox 27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489704"/>
            <a:ext cx="5257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기존 · 전류 경로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489704"/>
            <a:ext cx="5257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재설계 · 전류 경로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828032"/>
            <a:ext cx="5257800" cy="98755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983480"/>
            <a:ext cx="10515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기존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4937760"/>
            <a:ext cx="3703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61819"/>
                </a:solidFill>
                <a:latin typeface="Aptos"/>
              </a:rPr>
              <a:t>Ni plate 0.2t × 8 mm × 4
Cu busbar 3t × 30 mm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449824"/>
            <a:ext cx="4663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666D72"/>
                </a:solidFill>
                <a:latin typeface="Aptos"/>
              </a:rPr>
              <a:t>기존 단면·전류 경로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828032"/>
            <a:ext cx="5257800" cy="987552"/>
          </a:xfrm>
          <a:prstGeom prst="rect">
            <a:avLst/>
          </a:prstGeom>
          <a:solidFill>
            <a:srgbClr val="FAF9F7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98348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재설계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9377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161819"/>
                </a:solidFill>
                <a:latin typeface="Aptos"/>
              </a:rPr>
              <a:t>Cu/Ni plate 0.5t · Cu 4t × 30 mm
5 parallel paths · 80 A/path × 5 = 400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5449824"/>
            <a:ext cx="4709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19" b="1">
                <a:solidFill>
                  <a:srgbClr val="00979D"/>
                </a:solidFill>
                <a:latin typeface="Aptos"/>
              </a:rPr>
              <a:t>300 A 설계 목표 이상 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5925312"/>
            <a:ext cx="10890504" cy="438912"/>
          </a:xfrm>
          <a:prstGeom prst="rect">
            <a:avLst/>
          </a:prstGeom>
          <a:solidFill>
            <a:srgbClr val="F4F5F3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6044184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>
                <a:latin typeface="Aptos"/>
              </a:rPr>
              <a:t>설계 판단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05456" y="6007608"/>
            <a:ext cx="8549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40" b="1">
                <a:solidFill>
                  <a:srgbClr val="161819"/>
                </a:solidFill>
                <a:latin typeface="Aptos"/>
              </a:rPr>
              <a:t>Nickel = Spot-weld interface   |   Copper = 주전류 경로   |   Bolt + U-nut = 체결 신뢰성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냉각 · 제작 · 정비성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설계가 맞아도 조립·냉각·정비가 어려우면 실제 차량에서는 쓸 수 없습니다.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냉각, 조립, 정비성을 각각 구현 기준으로 나눠 Pack 구조에 반영했습니다.</a:t>
            </a:r>
          </a:p>
        </p:txBody>
      </p:sp>
      <p:pic>
        <p:nvPicPr>
          <p:cNvPr id="7" name="Picture 6" descr="s12_p01.jpg"/>
          <p:cNvPicPr>
            <a:picLocks noChangeAspect="1"/>
          </p:cNvPicPr>
          <p:nvPr/>
        </p:nvPicPr>
        <p:blipFill>
          <a:blip r:embed="rId2"/>
          <a:srcRect l="5843" r="5843"/>
          <a:stretch>
            <a:fillRect/>
          </a:stretch>
        </p:blipFill>
        <p:spPr>
          <a:xfrm>
            <a:off x="566928" y="2011680"/>
            <a:ext cx="2971800" cy="2148840"/>
          </a:xfrm>
          <a:prstGeom prst="rect">
            <a:avLst/>
          </a:prstGeom>
          <a:ln>
            <a:noFill/>
          </a:ln>
        </p:spPr>
      </p:pic>
      <p:sp>
        <p:nvSpPr>
          <p:cNvPr id="8" name="Rounded Rectangle 7"/>
          <p:cNvSpPr/>
          <p:nvPr/>
        </p:nvSpPr>
        <p:spPr>
          <a:xfrm>
            <a:off x="566928" y="4315968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00979D"/>
          </a:solidFill>
          <a:ln w="762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437083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1819"/>
                </a:solidFill>
                <a:latin typeface="Aptos"/>
              </a:rPr>
              <a:t>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736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냉각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047488"/>
            <a:ext cx="2971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>
                <a:solidFill>
                  <a:srgbClr val="161819"/>
                </a:solidFill>
                <a:latin typeface="Aptos"/>
              </a:rPr>
              <a:t>총 6개 Fan</a:t>
            </a:r>
          </a:p>
          <a:p>
            <a:r>
              <a:rPr sz="940" b="0">
                <a:solidFill>
                  <a:srgbClr val="161819"/>
                </a:solidFill>
                <a:latin typeface="Aptos"/>
              </a:rPr>
              <a:t>강제공랭 유로를 실제 Pack에 구현</a:t>
            </a:r>
          </a:p>
        </p:txBody>
      </p:sp>
      <p:pic>
        <p:nvPicPr>
          <p:cNvPr id="12" name="Picture 11" descr="s12_p02.jpg"/>
          <p:cNvPicPr>
            <a:picLocks noChangeAspect="1"/>
          </p:cNvPicPr>
          <p:nvPr/>
        </p:nvPicPr>
        <p:blipFill>
          <a:blip r:embed="rId3"/>
          <a:srcRect l="5843" r="5843"/>
          <a:stretch>
            <a:fillRect/>
          </a:stretch>
        </p:blipFill>
        <p:spPr>
          <a:xfrm>
            <a:off x="4151376" y="2011680"/>
            <a:ext cx="2971800" cy="2148840"/>
          </a:xfrm>
          <a:prstGeom prst="rect">
            <a:avLst/>
          </a:prstGeom>
          <a:ln>
            <a:noFill/>
          </a:ln>
        </p:spPr>
      </p:pic>
      <p:sp>
        <p:nvSpPr>
          <p:cNvPr id="13" name="Rounded Rectangle 12"/>
          <p:cNvSpPr/>
          <p:nvPr/>
        </p:nvSpPr>
        <p:spPr>
          <a:xfrm>
            <a:off x="4151376" y="4315968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00979D"/>
          </a:solidFill>
          <a:ln w="762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1104" y="437083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1819"/>
                </a:solidFill>
                <a:latin typeface="Aptos"/>
              </a:rPr>
              <a:t>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4736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조립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5047488"/>
            <a:ext cx="2971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>
                <a:solidFill>
                  <a:srgbClr val="161819"/>
                </a:solidFill>
                <a:latin typeface="Aptos"/>
              </a:rPr>
              <a:t>3D Printed Holder</a:t>
            </a:r>
          </a:p>
          <a:p>
            <a:r>
              <a:rPr sz="940" b="0">
                <a:solidFill>
                  <a:srgbClr val="161819"/>
                </a:solidFill>
                <a:latin typeface="Aptos"/>
              </a:rPr>
              <a:t>셀 정렬 · 절연 · 조립성 확보</a:t>
            </a:r>
          </a:p>
        </p:txBody>
      </p:sp>
      <p:pic>
        <p:nvPicPr>
          <p:cNvPr id="17" name="Picture 16" descr="s12_p03.jpg"/>
          <p:cNvPicPr>
            <a:picLocks noChangeAspect="1"/>
          </p:cNvPicPr>
          <p:nvPr/>
        </p:nvPicPr>
        <p:blipFill>
          <a:blip r:embed="rId4"/>
          <a:srcRect l="5843" r="5843"/>
          <a:stretch>
            <a:fillRect/>
          </a:stretch>
        </p:blipFill>
        <p:spPr>
          <a:xfrm>
            <a:off x="7735824" y="2011680"/>
            <a:ext cx="2971800" cy="2148840"/>
          </a:xfrm>
          <a:prstGeom prst="rect">
            <a:avLst/>
          </a:prstGeom>
          <a:ln>
            <a:noFill/>
          </a:ln>
        </p:spPr>
      </p:pic>
      <p:sp>
        <p:nvSpPr>
          <p:cNvPr id="18" name="Rounded Rectangle 17"/>
          <p:cNvSpPr/>
          <p:nvPr/>
        </p:nvSpPr>
        <p:spPr>
          <a:xfrm>
            <a:off x="7735824" y="4315968"/>
            <a:ext cx="1024128" cy="310896"/>
          </a:xfrm>
          <a:prstGeom prst="roundRect">
            <a:avLst>
              <a:gd name="adj" fmla="val 8000"/>
            </a:avLst>
          </a:prstGeom>
          <a:solidFill>
            <a:srgbClr val="00979D"/>
          </a:solidFill>
          <a:ln w="762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370832"/>
            <a:ext cx="804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161819"/>
                </a:solidFill>
                <a:latin typeface="Aptos"/>
              </a:rPr>
              <a:t>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4736592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정비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5047488"/>
            <a:ext cx="29718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0">
                <a:solidFill>
                  <a:srgbClr val="161819"/>
                </a:solidFill>
                <a:latin typeface="Aptos"/>
              </a:rPr>
              <a:t>6개 Segment 독립 배치</a:t>
            </a:r>
          </a:p>
          <a:p>
            <a:r>
              <a:rPr sz="940" b="0">
                <a:solidFill>
                  <a:srgbClr val="161819"/>
                </a:solidFill>
                <a:latin typeface="Aptos"/>
              </a:rPr>
              <a:t>커넥터 · Sense line 접근성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97296"/>
            <a:ext cx="10835640" cy="10972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916168"/>
            <a:ext cx="10835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>
                <a:solidFill>
                  <a:srgbClr val="656C71"/>
                </a:solidFill>
                <a:latin typeface="Aptos"/>
              </a:rPr>
              <a:t>실제 차량 적용 기준 · 냉각 / 조립 / 정비 세 항목을 모두 충족하도록 Pack 구조를 구현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실물 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설계안을 실제 하드웨어로 제작해 계산과 CAD를 현실 조건에서 검증했습니다.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Cell/Holder → Cu-Ni Plate → Cell Assembly → Segment → Pack → Accumulator 순으로 제작했습니다.</a:t>
            </a:r>
          </a:p>
        </p:txBody>
      </p:sp>
      <p:pic>
        <p:nvPicPr>
          <p:cNvPr id="7" name="Picture 6" descr="s13_p01.jpg"/>
          <p:cNvPicPr>
            <a:picLocks noChangeAspect="1"/>
          </p:cNvPicPr>
          <p:nvPr/>
        </p:nvPicPr>
        <p:blipFill>
          <a:blip r:embed="rId2"/>
          <a:srcRect t="29692" b="29692"/>
          <a:stretch>
            <a:fillRect/>
          </a:stretch>
        </p:blipFill>
        <p:spPr>
          <a:xfrm>
            <a:off x="566928" y="2029968"/>
            <a:ext cx="3072384" cy="1664208"/>
          </a:xfrm>
          <a:prstGeom prst="rect">
            <a:avLst/>
          </a:prstGeom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566928" y="2029968"/>
            <a:ext cx="420624" cy="420624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21214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6F5F1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76472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1">
                <a:solidFill>
                  <a:srgbClr val="161819"/>
                </a:solidFill>
                <a:latin typeface="Aptos"/>
              </a:rPr>
              <a:t>Cell · Holder</a:t>
            </a:r>
          </a:p>
        </p:txBody>
      </p:sp>
      <p:pic>
        <p:nvPicPr>
          <p:cNvPr id="11" name="Picture 10" descr="s13_p02.jpg"/>
          <p:cNvPicPr>
            <a:picLocks noChangeAspect="1"/>
          </p:cNvPicPr>
          <p:nvPr/>
        </p:nvPicPr>
        <p:blipFill>
          <a:blip r:embed="rId3"/>
          <a:srcRect t="29692" b="29692"/>
          <a:stretch>
            <a:fillRect/>
          </a:stretch>
        </p:blipFill>
        <p:spPr>
          <a:xfrm>
            <a:off x="4224528" y="2029968"/>
            <a:ext cx="3072384" cy="1664208"/>
          </a:xfrm>
          <a:prstGeom prst="rect">
            <a:avLst/>
          </a:prstGeom>
          <a:ln>
            <a:noFill/>
          </a:ln>
        </p:spPr>
      </p:pic>
      <p:sp>
        <p:nvSpPr>
          <p:cNvPr id="12" name="Rectangle 11"/>
          <p:cNvSpPr/>
          <p:nvPr/>
        </p:nvSpPr>
        <p:spPr>
          <a:xfrm>
            <a:off x="4224528" y="2029968"/>
            <a:ext cx="420624" cy="420624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21214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6F5F1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3776472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1">
                <a:solidFill>
                  <a:srgbClr val="161819"/>
                </a:solidFill>
                <a:latin typeface="Aptos"/>
              </a:rPr>
              <a:t>Cu-Ni Plate</a:t>
            </a:r>
          </a:p>
        </p:txBody>
      </p:sp>
      <p:pic>
        <p:nvPicPr>
          <p:cNvPr id="15" name="Picture 14" descr="s13_p03.jpg"/>
          <p:cNvPicPr>
            <a:picLocks noChangeAspect="1"/>
          </p:cNvPicPr>
          <p:nvPr/>
        </p:nvPicPr>
        <p:blipFill>
          <a:blip r:embed="rId4"/>
          <a:srcRect t="29688" b="29688"/>
          <a:stretch>
            <a:fillRect/>
          </a:stretch>
        </p:blipFill>
        <p:spPr>
          <a:xfrm>
            <a:off x="7882127" y="2029968"/>
            <a:ext cx="3072384" cy="1664208"/>
          </a:xfrm>
          <a:prstGeom prst="rect">
            <a:avLst/>
          </a:prstGeom>
          <a:ln>
            <a:noFill/>
          </a:ln>
        </p:spPr>
      </p:pic>
      <p:sp>
        <p:nvSpPr>
          <p:cNvPr id="16" name="Rectangle 15"/>
          <p:cNvSpPr/>
          <p:nvPr/>
        </p:nvSpPr>
        <p:spPr>
          <a:xfrm>
            <a:off x="7882127" y="2029968"/>
            <a:ext cx="420624" cy="420624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3" y="2121408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6F5F1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776472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1">
                <a:solidFill>
                  <a:srgbClr val="161819"/>
                </a:solidFill>
                <a:latin typeface="Aptos"/>
              </a:rPr>
              <a:t>Cell 조립 · Spot Weld</a:t>
            </a:r>
          </a:p>
        </p:txBody>
      </p:sp>
      <p:pic>
        <p:nvPicPr>
          <p:cNvPr id="19" name="Picture 18" descr="s13_p04.jpg"/>
          <p:cNvPicPr>
            <a:picLocks noChangeAspect="1"/>
          </p:cNvPicPr>
          <p:nvPr/>
        </p:nvPicPr>
        <p:blipFill>
          <a:blip r:embed="rId5"/>
          <a:srcRect t="12649" b="12649"/>
          <a:stretch>
            <a:fillRect/>
          </a:stretch>
        </p:blipFill>
        <p:spPr>
          <a:xfrm>
            <a:off x="566928" y="4169663"/>
            <a:ext cx="3072384" cy="1664208"/>
          </a:xfrm>
          <a:prstGeom prst="rect">
            <a:avLst/>
          </a:prstGeom>
          <a:ln>
            <a:noFill/>
          </a:ln>
        </p:spPr>
      </p:pic>
      <p:sp>
        <p:nvSpPr>
          <p:cNvPr id="20" name="Rectangle 19"/>
          <p:cNvSpPr/>
          <p:nvPr/>
        </p:nvSpPr>
        <p:spPr>
          <a:xfrm>
            <a:off x="566928" y="4169663"/>
            <a:ext cx="420624" cy="420624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426110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6F5F1"/>
                </a:solidFill>
                <a:latin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16168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1">
                <a:solidFill>
                  <a:srgbClr val="161819"/>
                </a:solidFill>
                <a:latin typeface="Aptos"/>
              </a:rPr>
              <a:t>4S12P Segment</a:t>
            </a:r>
          </a:p>
        </p:txBody>
      </p:sp>
      <p:pic>
        <p:nvPicPr>
          <p:cNvPr id="23" name="Picture 22" descr="s13_p05.jpg"/>
          <p:cNvPicPr>
            <a:picLocks noChangeAspect="1"/>
          </p:cNvPicPr>
          <p:nvPr/>
        </p:nvPicPr>
        <p:blipFill>
          <a:blip r:embed="rId6"/>
          <a:srcRect t="29688" b="29688"/>
          <a:stretch>
            <a:fillRect/>
          </a:stretch>
        </p:blipFill>
        <p:spPr>
          <a:xfrm>
            <a:off x="4224528" y="4169663"/>
            <a:ext cx="3072384" cy="1664208"/>
          </a:xfrm>
          <a:prstGeom prst="rect">
            <a:avLst/>
          </a:prstGeom>
          <a:ln>
            <a:noFill/>
          </a:ln>
        </p:spPr>
      </p:pic>
      <p:sp>
        <p:nvSpPr>
          <p:cNvPr id="24" name="Rectangle 23"/>
          <p:cNvSpPr/>
          <p:nvPr/>
        </p:nvSpPr>
        <p:spPr>
          <a:xfrm>
            <a:off x="4224528" y="4169663"/>
            <a:ext cx="420624" cy="420624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426110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6F5F1"/>
                </a:solidFill>
                <a:latin typeface="Inter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5916168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1">
                <a:solidFill>
                  <a:srgbClr val="161819"/>
                </a:solidFill>
                <a:latin typeface="Aptos"/>
              </a:rPr>
              <a:t>6개 Segment</a:t>
            </a:r>
          </a:p>
        </p:txBody>
      </p:sp>
      <p:pic>
        <p:nvPicPr>
          <p:cNvPr id="27" name="Picture 26" descr="s13_p06.jpg"/>
          <p:cNvPicPr>
            <a:picLocks noChangeAspect="1"/>
          </p:cNvPicPr>
          <p:nvPr/>
        </p:nvPicPr>
        <p:blipFill>
          <a:blip r:embed="rId7"/>
          <a:srcRect t="29688" b="29688"/>
          <a:stretch>
            <a:fillRect/>
          </a:stretch>
        </p:blipFill>
        <p:spPr>
          <a:xfrm>
            <a:off x="7882127" y="4169663"/>
            <a:ext cx="3072384" cy="1664208"/>
          </a:xfrm>
          <a:prstGeom prst="rect">
            <a:avLst/>
          </a:prstGeom>
          <a:ln>
            <a:noFill/>
          </a:ln>
        </p:spPr>
      </p:pic>
      <p:sp>
        <p:nvSpPr>
          <p:cNvPr id="28" name="Rectangle 27"/>
          <p:cNvSpPr/>
          <p:nvPr/>
        </p:nvSpPr>
        <p:spPr>
          <a:xfrm>
            <a:off x="7882127" y="4169663"/>
            <a:ext cx="420624" cy="420624"/>
          </a:xfrm>
          <a:prstGeom prst="rect">
            <a:avLst/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4423" y="4261103"/>
            <a:ext cx="2560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6F5F1"/>
                </a:solidFill>
                <a:latin typeface="Inter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5916168"/>
            <a:ext cx="30723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1">
                <a:solidFill>
                  <a:srgbClr val="161819"/>
                </a:solidFill>
                <a:latin typeface="Aptos"/>
              </a:rPr>
              <a:t>Accumulator 통합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AI 기반 고장 진단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제작 후 BMS에서 비정상 전압이 나타났고, 다시 원인 탐색이 필요했습니다.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10" b="0">
                <a:solidFill>
                  <a:srgbClr val="666D72"/>
                </a:solidFill>
                <a:latin typeface="Aptos"/>
              </a:rPr>
              <a:t>AI로 원인 후보를 4개 그룹까지 줄인 뒤 실제 전압·체결·Busbar·Sense line 점검으로 하나씩 제거했습니다.</a:t>
            </a:r>
          </a:p>
        </p:txBody>
      </p:sp>
      <p:pic>
        <p:nvPicPr>
          <p:cNvPr id="7" name="Picture 6" descr="s14_p01.jpg"/>
          <p:cNvPicPr>
            <a:picLocks noChangeAspect="1"/>
          </p:cNvPicPr>
          <p:nvPr/>
        </p:nvPicPr>
        <p:blipFill>
          <a:blip r:embed="rId2"/>
          <a:srcRect t="141" b="141"/>
          <a:stretch>
            <a:fillRect/>
          </a:stretch>
        </p:blipFill>
        <p:spPr>
          <a:xfrm>
            <a:off x="566928" y="1975104"/>
            <a:ext cx="4709160" cy="123444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66928" y="3401568"/>
            <a:ext cx="1417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24B41"/>
                </a:solidFill>
                <a:latin typeface="Aptos"/>
              </a:rPr>
              <a:t>4.119 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45643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50" b="1">
                <a:solidFill>
                  <a:srgbClr val="656C71"/>
                </a:solidFill>
                <a:latin typeface="Aptos"/>
              </a:rPr>
              <a:t>주변 Cell ≈ 3.9 V</a:t>
            </a:r>
          </a:p>
        </p:txBody>
      </p:sp>
      <p:pic>
        <p:nvPicPr>
          <p:cNvPr id="10" name="Picture 9" descr="s14_p02.jpg"/>
          <p:cNvPicPr>
            <a:picLocks noChangeAspect="1"/>
          </p:cNvPicPr>
          <p:nvPr/>
        </p:nvPicPr>
        <p:blipFill>
          <a:blip r:embed="rId3"/>
          <a:srcRect t="20271" b="20271"/>
          <a:stretch>
            <a:fillRect/>
          </a:stretch>
        </p:blipFill>
        <p:spPr>
          <a:xfrm>
            <a:off x="566928" y="3931920"/>
            <a:ext cx="4709160" cy="1664208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566928" y="56692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30" b="1">
                <a:solidFill>
                  <a:srgbClr val="656C71"/>
                </a:solidFill>
                <a:latin typeface="Aptos"/>
              </a:rPr>
              <a:t>BMS Live Parameters · 진단 당시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7510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AI가 좁힌 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0487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04840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238658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셀 자체 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95351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04840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293522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측정선 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502152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04840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348386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접촉·체결 문제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050791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04840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32504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BMS 측정 문제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13648" y="2121408"/>
            <a:ext cx="0" cy="2615184"/>
          </a:xfrm>
          <a:prstGeom prst="line">
            <a:avLst/>
          </a:prstGeom>
          <a:ln w="12700">
            <a:solidFill>
              <a:srgbClr val="D7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42832" y="197510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실물에서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240487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9A9C"/>
                </a:solidFill>
                <a:latin typeface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2386584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전압 실측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295351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9A9C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935224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단자 체결상태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350215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9A9C"/>
                </a:solidFill>
                <a:latin typeface="Inter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483864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Busbar 접촉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2832" y="4050791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09A9C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4032504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 i="0">
                <a:solidFill>
                  <a:srgbClr val="141617"/>
                </a:solidFill>
                <a:latin typeface="Aptos"/>
              </a:rPr>
              <a:t>Sense 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4965192"/>
            <a:ext cx="5532120" cy="658368"/>
          </a:xfrm>
          <a:prstGeom prst="rect">
            <a:avLst/>
          </a:prstGeom>
          <a:solidFill>
            <a:srgbClr val="F5E8E7"/>
          </a:solidFill>
          <a:ln>
            <a:solidFill>
              <a:srgbClr val="F5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 wrap="square"/>
          <a:lstStyle/>
          <a:p>
            <a:r>
              <a:rPr>
                <a:latin typeface="Aptos"/>
              </a:rPr>
              <a:t>4개 가설 그룹 → 1개 실제 원인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5166360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AI가 탐색 범위를 줄이고, 실물 검증은 직접 수행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01752"/>
            <a:ext cx="2240280" cy="310896"/>
          </a:xfrm>
          <a:prstGeom prst="roundRect">
            <a:avLst/>
          </a:prstGeom>
          <a:solidFill>
            <a:srgbClr val="FAF9F7"/>
          </a:solidFill>
          <a:ln w="1016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370332"/>
            <a:ext cx="203911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>
                <a:solidFill>
                  <a:srgbClr val="00979D"/>
                </a:solidFill>
                <a:latin typeface="Aptos"/>
              </a:rPr>
              <a:t>AI USED · 고장 가설 축소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원인 확인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실물 점검 결과, 원인은 Cell 자체가 아니라 Segment #2 체결부였습니다.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656C71"/>
                </a:solidFill>
                <a:latin typeface="Aptos"/>
              </a:rPr>
              <a:t>Segment #2 단자와 Copper busbar의 체결/접촉 상태를 수정해 비정상 측정 원인을 제거했습니다.</a:t>
            </a:r>
          </a:p>
        </p:txBody>
      </p:sp>
      <p:pic>
        <p:nvPicPr>
          <p:cNvPr id="7" name="Picture 6" descr="s15_p01.jpg"/>
          <p:cNvPicPr>
            <a:picLocks noChangeAspect="1"/>
          </p:cNvPicPr>
          <p:nvPr/>
        </p:nvPicPr>
        <p:blipFill>
          <a:blip r:embed="rId2"/>
          <a:srcRect t="6315" b="6315"/>
          <a:stretch>
            <a:fillRect/>
          </a:stretch>
        </p:blipFill>
        <p:spPr>
          <a:xfrm>
            <a:off x="566928" y="1901952"/>
            <a:ext cx="6419088" cy="420624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66928" y="619963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0">
                <a:solidFill>
                  <a:srgbClr val="656C71"/>
                </a:solidFill>
                <a:latin typeface="Aptos"/>
              </a:rPr>
              <a:t>실물 확인 · Segment #2 단자 ↔ Copper busbar 체결부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048256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029968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59152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1">
                <a:solidFill>
                  <a:srgbClr val="161819"/>
                </a:solidFill>
                <a:latin typeface="Aptos"/>
              </a:rPr>
              <a:t>Segment #2 단자 ↔</a:t>
            </a:r>
          </a:p>
          <a:p>
            <a:r>
              <a:rPr sz="940" b="1">
                <a:solidFill>
                  <a:srgbClr val="161819"/>
                </a:solidFill>
                <a:latin typeface="Aptos"/>
              </a:rPr>
              <a:t>Copper busbar 체결부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035808"/>
            <a:ext cx="3520440" cy="10972"/>
          </a:xfrm>
          <a:prstGeom prst="rect">
            <a:avLst/>
          </a:prstGeom>
          <a:solidFill>
            <a:srgbClr val="DE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401568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383280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수정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712464"/>
            <a:ext cx="352044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 sz="950" b="0">
                <a:solidFill>
                  <a:srgbClr val="161819"/>
                </a:solidFill>
                <a:latin typeface="Aptos"/>
              </a:rPr>
              <a:t>체결 상태 수정</a:t>
            </a:r>
          </a:p>
          <a:p>
            <a:r>
              <a:rPr sz="950" b="0">
                <a:solidFill>
                  <a:srgbClr val="161819"/>
                </a:solidFill>
                <a:latin typeface="Aptos"/>
              </a:rPr>
              <a:t>접촉·측정 상태 정상화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389120"/>
            <a:ext cx="3520440" cy="10972"/>
          </a:xfrm>
          <a:prstGeom prst="rect">
            <a:avLst/>
          </a:prstGeom>
          <a:solidFill>
            <a:srgbClr val="DEE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754880"/>
            <a:ext cx="365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736592"/>
            <a:ext cx="14173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rPr>
                <a:latin typeface="Aptos"/>
              </a:rPr>
              <a:t>결과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65776"/>
            <a:ext cx="3520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40" b="1">
                <a:solidFill>
                  <a:srgbClr val="161819"/>
                </a:solidFill>
                <a:latin typeface="Aptos"/>
              </a:rPr>
              <a:t>체결부 수정 후</a:t>
            </a:r>
          </a:p>
          <a:p>
            <a:r>
              <a:rPr sz="940" b="1">
                <a:solidFill>
                  <a:srgbClr val="161819"/>
                </a:solidFill>
                <a:latin typeface="Aptos"/>
              </a:rPr>
              <a:t>접촉·측정 상태 정상화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>
                <a:solidFill>
                  <a:srgbClr val="666D72"/>
                </a:solidFill>
                <a:latin typeface="Aptos"/>
              </a:rPr>
              <a:t>결과 증명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50" b="1">
                <a:solidFill>
                  <a:srgbClr val="161819"/>
                </a:solidFill>
                <a:latin typeface="Aptos"/>
              </a:rPr>
              <a:t>수정한 Pack을 차량에 통합했고, 공식 배터리 검차를 통과했습니다.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656C71"/>
                </a:solidFill>
                <a:latin typeface="Aptos"/>
              </a:rPr>
              <a:t>문제 발견 → 재설계 → 제작 → 고장 수정 → 차량 통합 → 2025 Formula Student Korea Battery Inspection PASS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rcRect l="788" r="788"/>
          <a:stretch>
            <a:fillRect/>
          </a:stretch>
        </p:blipFill>
        <p:spPr>
          <a:xfrm>
            <a:off x="566928" y="1938528"/>
            <a:ext cx="6565392" cy="3703320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676656" y="5522976"/>
            <a:ext cx="63459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차량 통합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79792" y="2017263"/>
            <a:ext cx="4160520" cy="2448568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7635240" y="4590288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배터리 검차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892040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00825F"/>
                </a:solidFill>
                <a:latin typeface="Aptos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330952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69" b="0" i="0">
                <a:solidFill>
                  <a:srgbClr val="6E767C"/>
                </a:solidFill>
                <a:latin typeface="Aptos"/>
              </a:rPr>
              <a:t>녹색 배터리 아이콘으로 통과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6053328"/>
            <a:ext cx="11073384" cy="310896"/>
          </a:xfrm>
          <a:prstGeom prst="roundRect">
            <a:avLst>
              <a:gd name="adj" fmla="val 8000"/>
            </a:avLst>
          </a:prstGeom>
          <a:solidFill>
            <a:srgbClr val="121416"/>
          </a:solidFill>
          <a:ln>
            <a:solidFill>
              <a:srgbClr val="121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26480"/>
            <a:ext cx="13350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약 2개월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6126480"/>
            <a:ext cx="8138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9" b="1">
                <a:solidFill>
                  <a:srgbClr val="161819"/>
                </a:solidFill>
                <a:latin typeface="Aptos"/>
              </a:rPr>
              <a:t>2.1 V 발견  →  신규 설계  →  제작  →  고장 해결  →  배터리 검차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>
                <a:solidFill>
                  <a:srgbClr val="656C71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9" b="1">
                <a:solidFill>
                  <a:srgbClr val="656C71"/>
                </a:solidFill>
                <a:latin typeface="Aptos"/>
              </a:rPr>
              <a:t>추가 확장 사례 · 2027 AI-CAD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128248" cy="10972"/>
          </a:xfrm>
          <a:prstGeom prst="rect">
            <a:avLst/>
          </a:prstGeom>
          <a:solidFill>
            <a:srgbClr val="D7D9D6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9611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100" b="1">
                <a:solidFill>
                  <a:srgbClr val="161819"/>
                </a:solidFill>
                <a:latin typeface="Aptos"/>
              </a:rPr>
              <a:t>프로젝트 이후, AI 활용을 자연어 기반 3D 설계까지 확장하고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2646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90" b="0">
                <a:solidFill>
                  <a:srgbClr val="656C71"/>
                </a:solidFill>
                <a:latin typeface="Aptos"/>
              </a:rPr>
              <a:t>2025 Pack 제작에서 얻은 조립성·정비성·간섭 조건을 다음 설계 제약으로 재사용하고, Astra 이후 3D 반복 검토까지 확장했습니다.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92807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697076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856231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70" b="1">
                <a:solidFill>
                  <a:srgbClr val="161819"/>
                </a:solidFill>
                <a:latin typeface="Aptos"/>
              </a:rPr>
              <a:t>2025 프로젝트에서 배운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57984"/>
            <a:ext cx="2423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0">
                <a:solidFill>
                  <a:srgbClr val="656C71"/>
                </a:solidFill>
                <a:latin typeface="Aptos"/>
              </a:rPr>
              <a:t>조립성 · 정비성 · 간섭 여유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048256"/>
            <a:ext cx="274319" cy="12700"/>
          </a:xfrm>
          <a:prstGeom prst="rect">
            <a:avLst/>
          </a:prstGeom>
          <a:solidFill>
            <a:srgbClr val="D7D9D6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892807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B61F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856231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70" b="1">
                <a:solidFill>
                  <a:srgbClr val="161819"/>
                </a:solidFill>
                <a:latin typeface="Aptos"/>
              </a:rPr>
              <a:t>AI 기능 확장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157984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0">
                <a:solidFill>
                  <a:srgbClr val="656C71"/>
                </a:solidFill>
                <a:latin typeface="Aptos"/>
              </a:rPr>
              <a:t>자연어 → 3D → 반복 수정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52944" y="2048256"/>
            <a:ext cx="274319" cy="12700"/>
          </a:xfrm>
          <a:prstGeom prst="rect">
            <a:avLst/>
          </a:prstGeom>
          <a:solidFill>
            <a:srgbClr val="D7D9D6"/>
          </a:solidFill>
          <a:ln>
            <a:solidFill>
              <a:srgbClr val="D7D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35824" y="1892807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9A9C"/>
                </a:solidFill>
                <a:latin typeface="In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856231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70" b="1">
                <a:solidFill>
                  <a:srgbClr val="161819"/>
                </a:solidFill>
                <a:latin typeface="Aptos"/>
              </a:rPr>
              <a:t>다음 시즌 설계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157984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60" b="0">
                <a:solidFill>
                  <a:srgbClr val="656C71"/>
                </a:solidFill>
                <a:latin typeface="Aptos"/>
              </a:rPr>
              <a:t>P45B Segment · Battery Box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rcRect t="6422" b="6422"/>
          <a:stretch>
            <a:fillRect/>
          </a:stretch>
        </p:blipFill>
        <p:spPr>
          <a:xfrm>
            <a:off x="566928" y="2615184"/>
            <a:ext cx="5321808" cy="2798064"/>
          </a:xfrm>
          <a:prstGeom prst="rect">
            <a:avLst/>
          </a:prstGeom>
          <a:ln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566928" y="5486400"/>
            <a:ext cx="5321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Segment · 자연어 → 3D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816352"/>
            <a:ext cx="1408176" cy="301752"/>
          </a:xfrm>
          <a:prstGeom prst="roundRect">
            <a:avLst>
              <a:gd name="adj" fmla="val 8000"/>
            </a:avLst>
          </a:prstGeom>
          <a:solidFill>
            <a:srgbClr val="7B61FF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871216"/>
            <a:ext cx="12252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Inter"/>
              </a:rPr>
              <a:t>P45B · 14S6P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rcRect t="6422" b="6422"/>
          <a:stretch>
            <a:fillRect/>
          </a:stretch>
        </p:blipFill>
        <p:spPr>
          <a:xfrm>
            <a:off x="6291072" y="2615184"/>
            <a:ext cx="5321808" cy="2798064"/>
          </a:xfrm>
          <a:prstGeom prst="rect">
            <a:avLst/>
          </a:prstGeom>
          <a:ln>
            <a:noFill/>
          </a:ln>
        </p:spPr>
      </p:pic>
      <p:sp>
        <p:nvSpPr>
          <p:cNvPr id="25" name="TextBox 24"/>
          <p:cNvSpPr txBox="1"/>
          <p:nvPr/>
        </p:nvSpPr>
        <p:spPr>
          <a:xfrm>
            <a:off x="6291072" y="5486400"/>
            <a:ext cx="5321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Pack · 통합 및 간섭 검토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2" y="2816352"/>
            <a:ext cx="1161288" cy="301752"/>
          </a:xfrm>
          <a:prstGeom prst="roundRect">
            <a:avLst>
              <a:gd name="adj" fmla="val 8000"/>
            </a:avLst>
          </a:prstGeom>
          <a:solidFill>
            <a:srgbClr val="009A9C"/>
          </a:solidFill>
          <a:ln>
            <a:solidFill>
              <a:srgbClr val="00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871216"/>
            <a:ext cx="978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>
                <a:latin typeface="Aptos"/>
              </a:rPr>
              <a:t>전체 Pack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88736"/>
            <a:ext cx="11045952" cy="347472"/>
          </a:xfrm>
          <a:prstGeom prst="roundRect">
            <a:avLst>
              <a:gd name="adj" fmla="val 8000"/>
            </a:avLst>
          </a:prstGeom>
          <a:solidFill>
            <a:srgbClr val="E8F1F0"/>
          </a:solidFill>
          <a:ln>
            <a:solidFill>
              <a:srgbClr val="E8F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916168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1">
                <a:solidFill>
                  <a:srgbClr val="161819"/>
                </a:solidFill>
                <a:latin typeface="Aptos"/>
              </a:rPr>
              <a:t>실제 수정 사례 · BMS ↔ connector busbar 간섭 발견 → 배치 방향 수정 → 약 5 mm clearance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301752"/>
            <a:ext cx="2240280" cy="310896"/>
          </a:xfrm>
          <a:prstGeom prst="roundRect">
            <a:avLst/>
          </a:prstGeom>
          <a:solidFill>
            <a:srgbClr val="FAF9F7"/>
          </a:solidFill>
          <a:ln w="10160">
            <a:solidFill>
              <a:srgbClr val="009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36024" y="370332"/>
            <a:ext cx="203911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>
                <a:solidFill>
                  <a:srgbClr val="00979D"/>
                </a:solidFill>
                <a:latin typeface="Aptos"/>
              </a:rPr>
              <a:t>AI USED · 자연어 3D 반복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56616"/>
            <a:ext cx="310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656C71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52044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656C71"/>
                </a:solidFill>
                <a:latin typeface="Aptos"/>
              </a:rPr>
              <a:t>해커톤 적합성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082528" cy="16459"/>
          </a:xfrm>
          <a:prstGeom prst="rect">
            <a:avLst/>
          </a:prstGeom>
          <a:solidFill>
            <a:srgbClr val="6299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24128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161819"/>
                </a:solidFill>
                <a:latin typeface="Aptos"/>
              </a:rPr>
              <a:t>AI로 탐색 범위를 넓히고, 직접 검증해 현실의 결과물로 만들었습니다.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0">
                <a:solidFill>
                  <a:srgbClr val="656C71"/>
                </a:solidFill>
                <a:latin typeface="Aptos"/>
              </a:rPr>
              <a:t>이 프로젝트는 문제 정의 → AI 활용 → 직접 검증 → 실제 결과물이라는 흐름을 끝까지 보여줍니다.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12848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161819"/>
                </a:solidFill>
                <a:latin typeface="Aptos"/>
              </a:rPr>
              <a:t>ZERO-BASE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848" y="2212848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56C71"/>
                </a:solidFill>
                <a:latin typeface="Aptos"/>
              </a:rPr>
              <a:t>전공보다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2194560"/>
            <a:ext cx="7452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61819"/>
                </a:solidFill>
                <a:latin typeface="Aptos"/>
              </a:rPr>
              <a:t>낯선 문제를 수치화하고 검증하는 과정을 증명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651760"/>
            <a:ext cx="10488168" cy="9144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161819"/>
                </a:solidFill>
                <a:latin typeface="Aptos"/>
              </a:rPr>
              <a:t>REAL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99923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56C71"/>
                </a:solidFill>
                <a:latin typeface="Aptos"/>
              </a:rPr>
              <a:t>실제 문제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980944"/>
            <a:ext cx="7452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61819"/>
                </a:solidFill>
                <a:latin typeface="Aptos"/>
              </a:rPr>
              <a:t>Formula EV의 저전압 · 재설계 · 고장을 실제 차량에서 해결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438144"/>
            <a:ext cx="10488168" cy="9144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85615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0979D"/>
                </a:solidFill>
                <a:latin typeface="Aptos"/>
              </a:rPr>
              <a:t>AI 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3785615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56C71"/>
                </a:solidFill>
                <a:latin typeface="Aptos"/>
              </a:rPr>
              <a:t>업무 흐름에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767328"/>
            <a:ext cx="7452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0">
                <a:solidFill>
                  <a:srgbClr val="161819"/>
                </a:solidFill>
                <a:latin typeface="Aptos"/>
              </a:rPr>
              <a:t>전용 설계 계산기 · 고장 가설 축소 · 자연어 3D 설계에 AI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224527"/>
            <a:ext cx="10488168" cy="9144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572000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00979D"/>
                </a:solidFill>
                <a:latin typeface="Aptos"/>
              </a:rPr>
              <a:t>SHOW &amp; 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4572000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>
                <a:solidFill>
                  <a:srgbClr val="656C71"/>
                </a:solidFill>
                <a:latin typeface="Aptos"/>
              </a:rPr>
              <a:t>결과로 증명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4553712"/>
            <a:ext cx="74523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30" b="1">
                <a:solidFill>
                  <a:srgbClr val="161819"/>
                </a:solidFill>
                <a:latin typeface="Aptos"/>
              </a:rPr>
              <a:t>실물 Pack · BMS 데이터 · 물리적 원인 확인 · KSAE 배터리 검차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10912"/>
            <a:ext cx="10488168" cy="9144"/>
          </a:xfrm>
          <a:prstGeom prst="rect">
            <a:avLst/>
          </a:prstGeom>
          <a:solidFill>
            <a:srgbClr val="D8D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513832"/>
            <a:ext cx="10488168" cy="603504"/>
          </a:xfrm>
          <a:prstGeom prst="rect">
            <a:avLst/>
          </a:prstGeom>
          <a:solidFill>
            <a:srgbClr val="F5F6F4"/>
          </a:solidFill>
          <a:ln w="10160">
            <a:solidFill>
              <a:srgbClr val="D8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660136"/>
            <a:ext cx="10012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>
                <a:solidFill>
                  <a:srgbClr val="161819"/>
                </a:solidFill>
                <a:latin typeface="Aptos"/>
              </a:rPr>
              <a:t>“AI의 답을 믿는 것이 아니라, AI가 넓힌 설계공간을 제가 검증하고 결과물로 만듭니다.”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272784"/>
            <a:ext cx="104881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90" b="0">
                <a:solidFill>
                  <a:srgbClr val="656C71"/>
                </a:solidFill>
                <a:latin typeface="Aptos"/>
              </a:rPr>
              <a:t>AI 전용 계산기 · 4개 설계 후보 비교 · 4개 고장 가설 → 1개 실제 원인 · KSAE 배터리 검차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83696" y="6583680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10" b="0">
                <a:solidFill>
                  <a:srgbClr val="656C71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